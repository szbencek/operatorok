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559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69748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TALO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Operátorok a programozási nyelvekben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697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Készítette: Szabó Bence Kálmán, Ungai Zoltán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2026.10.01.</a:t>
            </a:r>
            <a:endParaRPr lang="en-US" sz="1400" dirty="0"/>
          </a:p>
        </p:txBody>
      </p:sp>
      <p:sp>
        <p:nvSpPr>
          <p:cNvPr id="5" name="Kör +"/>
          <p:cNvSpPr/>
          <p:nvPr/>
        </p:nvSpPr>
        <p:spPr>
          <a:xfrm>
            <a:off x="640080" y="3657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200" dirty="0"/>
          </a:p>
        </p:txBody>
      </p:sp>
      <p:sp>
        <p:nvSpPr>
          <p:cNvPr id="7" name="Kör &lt;"/>
          <p:cNvSpPr/>
          <p:nvPr/>
        </p:nvSpPr>
        <p:spPr>
          <a:xfrm>
            <a:off x="1691640" y="36576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 txBox="1"/>
          <p:nvPr/>
        </p:nvSpPr>
        <p:spPr>
          <a:xfrm>
            <a:off x="169164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2200" dirty="0"/>
          </a:p>
        </p:txBody>
      </p:sp>
      <p:sp>
        <p:nvSpPr>
          <p:cNvPr id="9" name="Kör &amp;&amp;"/>
          <p:cNvSpPr/>
          <p:nvPr/>
        </p:nvSpPr>
        <p:spPr>
          <a:xfrm>
            <a:off x="2743200" y="365760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 txBox="1"/>
          <p:nvPr/>
        </p:nvSpPr>
        <p:spPr>
          <a:xfrm>
            <a:off x="274320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2200" dirty="0"/>
          </a:p>
        </p:txBody>
      </p:sp>
      <p:sp>
        <p:nvSpPr>
          <p:cNvPr id="11" name="Kör ="/>
          <p:cNvSpPr/>
          <p:nvPr/>
        </p:nvSpPr>
        <p:spPr>
          <a:xfrm>
            <a:off x="3794760" y="36576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 txBox="1"/>
          <p:nvPr/>
        </p:nvSpPr>
        <p:spPr>
          <a:xfrm>
            <a:off x="379476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Menü – válassz operátorcsoportot</a:t>
            </a:r>
            <a:endParaRPr lang="en-US" sz="3200" dirty="0"/>
          </a:p>
        </p:txBody>
      </p:sp>
      <p:sp>
        <p:nvSpPr>
          <p:cNvPr id="3" name="Menü: Aritmetikai">
            <a:hlinkClick r:id="rId3" action="ppaction://hlinksldjump" tooltip="Aritmetikai"/>
          </p:cNvPr>
          <p:cNvSpPr/>
          <p:nvPr/>
        </p:nvSpPr>
        <p:spPr>
          <a:xfrm>
            <a:off x="457200" y="1188720"/>
            <a:ext cx="397764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/>
        </p:spPr>
        <p:txBody>
          <a:bodyPr wrap="square" lIns="0" tIns="15240" rIns="2540" bIns="0" rtlCol="0" anchor="ctr"/>
          <a:lstStyle/>
          <a:p>
            <a:pPr marL="0" indent="0">
              <a:buNone/>
            </a:pPr>
            <a:r>
              <a:rPr lang="en-US" sz="2000" b="1" u="none" dirty="0" err="1">
                <a:solidFill>
                  <a:schemeClr val="bg1"/>
                </a:solidFill>
                <a:hlinkClick r:id="rId3" action="ppaction://hlinksldjump" tooltip="Aritmet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Aritmetikai</a:t>
            </a:r>
            <a:endParaRPr lang="en-US" sz="2000" dirty="0"/>
          </a:p>
          <a:p>
            <a:pPr marL="0" indent="0">
              <a:buNone/>
            </a:pPr>
            <a:r>
              <a:rPr lang="en-US" sz="1400" u="none" dirty="0" err="1">
                <a:solidFill>
                  <a:schemeClr val="bg1"/>
                </a:solidFill>
                <a:hlinkClick r:id="rId3" action="ppaction://hlinksldjump" tooltip="Aritmet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Szint</a:t>
            </a:r>
            <a:r>
              <a:rPr lang="en-US" sz="1400" u="none" dirty="0">
                <a:solidFill>
                  <a:schemeClr val="bg1"/>
                </a:solidFill>
                <a:hlinkClick r:id="rId3" action="ppaction://hlinksldjump" tooltip="Aritmet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1–4 · számolás</a:t>
            </a:r>
            <a:endParaRPr lang="en-US" sz="2000" dirty="0"/>
          </a:p>
        </p:txBody>
      </p:sp>
      <p:sp>
        <p:nvSpPr>
          <p:cNvPr id="4" name="Menü jel: Aritmetikai">
            <a:hlinkClick r:id="rId3" action="ppaction://hlinksldjump" tooltip="Aritmetikai"/>
          </p:cNvPr>
          <p:cNvSpPr/>
          <p:nvPr/>
        </p:nvSpPr>
        <p:spPr>
          <a:xfrm>
            <a:off x="2916775" y="1188720"/>
            <a:ext cx="868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none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action="ppaction://hlinksldjump" tooltip="Aritmet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 −</a:t>
            </a:r>
            <a:endParaRPr lang="en-US" sz="2000" dirty="0"/>
          </a:p>
        </p:txBody>
      </p:sp>
      <p:sp>
        <p:nvSpPr>
          <p:cNvPr id="5" name="Menü: Relációs">
            <a:hlinkClick r:id="rId4" action="ppaction://hlinksldjump" tooltip="Relációs"/>
          </p:cNvPr>
          <p:cNvSpPr/>
          <p:nvPr/>
        </p:nvSpPr>
        <p:spPr>
          <a:xfrm>
            <a:off x="4709160" y="1188720"/>
            <a:ext cx="3977640" cy="1143000"/>
          </a:xfrm>
          <a:prstGeom prst="roundRect">
            <a:avLst>
              <a:gd name="adj" fmla="val 9600"/>
            </a:avLst>
          </a:prstGeom>
          <a:solidFill>
            <a:schemeClr val="accent2"/>
          </a:solidFill>
          <a:ln/>
        </p:spPr>
        <p:txBody>
          <a:bodyPr wrap="square" lIns="0" tIns="15240" rIns="2540" bIns="0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chemeClr val="bg1"/>
                </a:solidFill>
                <a:hlinkClick r:id="rId4" action="ppaction://hlinksldjump" tooltip="Reláció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Relációs</a:t>
            </a:r>
            <a:endParaRPr lang="en-US" sz="2000" dirty="0"/>
          </a:p>
          <a:p>
            <a:pPr marL="0" indent="0">
              <a:buNone/>
            </a:pPr>
            <a:r>
              <a:rPr lang="en-US" sz="1400" u="none" dirty="0">
                <a:solidFill>
                  <a:schemeClr val="bg1"/>
                </a:solidFill>
                <a:hlinkClick r:id="rId4" action="ppaction://hlinksldjump" tooltip="Reláció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Szint: 5–6 · összehasonlítás</a:t>
            </a:r>
            <a:endParaRPr lang="en-US" sz="2000" dirty="0"/>
          </a:p>
        </p:txBody>
      </p:sp>
      <p:sp>
        <p:nvSpPr>
          <p:cNvPr id="6" name="Menü jel: Relációs">
            <a:hlinkClick r:id="rId4" action="ppaction://hlinksldjump" tooltip="Relációs"/>
          </p:cNvPr>
          <p:cNvSpPr/>
          <p:nvPr/>
        </p:nvSpPr>
        <p:spPr>
          <a:xfrm>
            <a:off x="7246620" y="1188720"/>
            <a:ext cx="868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none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action="ppaction://hlinksldjump" tooltip="Reláció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 ==</a:t>
            </a:r>
            <a:endParaRPr lang="en-US" sz="2000" dirty="0"/>
          </a:p>
        </p:txBody>
      </p:sp>
      <p:sp>
        <p:nvSpPr>
          <p:cNvPr id="7" name="Menü: Logikai">
            <a:hlinkClick r:id="rId5" action="ppaction://hlinksldjump" tooltip="Logikai"/>
          </p:cNvPr>
          <p:cNvSpPr/>
          <p:nvPr/>
        </p:nvSpPr>
        <p:spPr>
          <a:xfrm>
            <a:off x="457200" y="2560320"/>
            <a:ext cx="3977640" cy="1143000"/>
          </a:xfrm>
          <a:prstGeom prst="roundRect">
            <a:avLst>
              <a:gd name="adj" fmla="val 9600"/>
            </a:avLst>
          </a:prstGeom>
          <a:solidFill>
            <a:schemeClr val="accent3"/>
          </a:solidFill>
          <a:ln/>
        </p:spPr>
        <p:txBody>
          <a:bodyPr wrap="square" lIns="0" tIns="15240" rIns="2540" bIns="0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chemeClr val="bg1"/>
                </a:solidFill>
                <a:hlinkClick r:id="rId5" action="ppaction://hlinksldjump" tooltip="Log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Logikai</a:t>
            </a:r>
            <a:endParaRPr lang="en-US" sz="2000" dirty="0"/>
          </a:p>
          <a:p>
            <a:pPr marL="0" indent="0">
              <a:buNone/>
            </a:pPr>
            <a:r>
              <a:rPr lang="en-US" sz="1400" u="none" dirty="0">
                <a:solidFill>
                  <a:schemeClr val="bg1"/>
                </a:solidFill>
                <a:hlinkClick r:id="rId5" action="ppaction://hlinksldjump" tooltip="Log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Szint: 2, 7–8 · !  &amp;&amp;  ||</a:t>
            </a:r>
            <a:endParaRPr lang="en-US" sz="2000" dirty="0"/>
          </a:p>
        </p:txBody>
      </p:sp>
      <p:sp>
        <p:nvSpPr>
          <p:cNvPr id="8" name="Menü jel: Logikai">
            <a:hlinkClick r:id="rId5" action="ppaction://hlinksldjump" tooltip="Logikai"/>
          </p:cNvPr>
          <p:cNvSpPr/>
          <p:nvPr/>
        </p:nvSpPr>
        <p:spPr>
          <a:xfrm>
            <a:off x="2916775" y="2560320"/>
            <a:ext cx="868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none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action="ppaction://hlinksldjump" tooltip="Log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&amp;&amp;</a:t>
            </a:r>
            <a:endParaRPr lang="en-US" sz="2000" dirty="0"/>
          </a:p>
        </p:txBody>
      </p:sp>
      <p:sp>
        <p:nvSpPr>
          <p:cNvPr id="9" name="Menü: Értékadó és feltételes">
            <a:hlinkClick r:id="rId6" action="ppaction://hlinksldjump" tooltip="Értékadó és feltételes"/>
          </p:cNvPr>
          <p:cNvSpPr/>
          <p:nvPr/>
        </p:nvSpPr>
        <p:spPr>
          <a:xfrm>
            <a:off x="4709160" y="2560320"/>
            <a:ext cx="3977640" cy="1143000"/>
          </a:xfrm>
          <a:prstGeom prst="roundRect">
            <a:avLst>
              <a:gd name="adj" fmla="val 9600"/>
            </a:avLst>
          </a:prstGeom>
          <a:solidFill>
            <a:schemeClr val="accent4"/>
          </a:solidFill>
          <a:ln/>
        </p:spPr>
        <p:txBody>
          <a:bodyPr wrap="square" lIns="0" tIns="15240" rIns="2540" bIns="0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chemeClr val="bg1"/>
                </a:solidFill>
                <a:hlinkClick r:id="rId6" action="ppaction://hlinksldjump" tooltip="Értékadó és feltéte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Értékadó és feltételes</a:t>
            </a:r>
            <a:endParaRPr lang="en-US" sz="2000" dirty="0"/>
          </a:p>
          <a:p>
            <a:pPr marL="0" indent="0">
              <a:buNone/>
            </a:pPr>
            <a:r>
              <a:rPr lang="en-US" sz="1400" u="none" dirty="0">
                <a:solidFill>
                  <a:schemeClr val="bg1"/>
                </a:solidFill>
                <a:hlinkClick r:id="rId6" action="ppaction://hlinksldjump" tooltip="Értékadó és feltéte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Szint: 9–10 · = += ?:</a:t>
            </a:r>
            <a:endParaRPr lang="en-US" sz="2000" dirty="0"/>
          </a:p>
        </p:txBody>
      </p:sp>
      <p:sp>
        <p:nvSpPr>
          <p:cNvPr id="10" name="Menü jel: Értékadó és feltételes">
            <a:hlinkClick r:id="rId6" action="ppaction://hlinksldjump" tooltip="Értékadó és feltételes"/>
          </p:cNvPr>
          <p:cNvSpPr/>
          <p:nvPr/>
        </p:nvSpPr>
        <p:spPr>
          <a:xfrm>
            <a:off x="7246620" y="2560320"/>
            <a:ext cx="868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none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action="ppaction://hlinksldjump" tooltip="Értékadó és feltéte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 ?</a:t>
            </a:r>
            <a:endParaRPr lang="en-US" sz="2000" dirty="0"/>
          </a:p>
        </p:txBody>
      </p:sp>
      <p:sp>
        <p:nvSpPr>
          <p:cNvPr id="11" name="Menü: Összegzés">
            <a:hlinkClick r:id="rId7" action="ppaction://hlinksldjump" tooltip="Összegzés"/>
          </p:cNvPr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u="none" dirty="0">
                <a:solidFill>
                  <a:schemeClr val="bg1"/>
                </a:solidFill>
                <a:hlinkClick r:id="rId7" action="ppaction://hlinksldjump" tooltip="Összegzé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Összegzés – műveleti sorrend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Aritmetikai operátorok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−</a:t>
            </a:r>
            <a:endParaRPr lang="en-US" sz="1800" dirty="0"/>
          </a:p>
        </p:txBody>
      </p:sp>
      <p:graphicFrame>
        <p:nvGraphicFramePr>
          <p:cNvPr id="5" name="Tábláza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212080" cy="30723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Operátor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Név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Szint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 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zárójel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x++  x--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postfix növelés/csökkentés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előjel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++x  --x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prefix növelés/csökkentés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(típus)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explicit típuskonverzió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  /  %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szorzás, osztás, maradék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összeadás, kivonás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Kártya"/>
          <p:cNvSpPr/>
          <p:nvPr/>
        </p:nvSpPr>
        <p:spPr>
          <a:xfrm>
            <a:off x="5943600" y="118872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Kártya szöveg"/>
          <p:cNvSpPr txBox="1"/>
          <p:nvPr/>
        </p:nvSpPr>
        <p:spPr>
          <a:xfrm>
            <a:off x="6126480" y="132588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Fontos tudni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Kisebb szám = erősebb operátor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Azonos szinten balról jobbra haladunk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zárójel mindent felülír</a:t>
            </a:r>
            <a:endParaRPr lang="en-US" sz="1600" dirty="0"/>
          </a:p>
        </p:txBody>
      </p:sp>
      <p:sp>
        <p:nvSpPr>
          <p:cNvPr id="8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Aritmetikai példák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−</a:t>
            </a:r>
            <a:endParaRPr lang="en-US" sz="1800" dirty="0"/>
          </a:p>
        </p:txBody>
      </p:sp>
      <p:sp>
        <p:nvSpPr>
          <p:cNvPr id="5" name="Kódpanel"/>
          <p:cNvSpPr/>
          <p:nvPr/>
        </p:nvSpPr>
        <p:spPr>
          <a:xfrm>
            <a:off x="457200" y="1188720"/>
            <a:ext cx="512064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Kód"/>
          <p:cNvSpPr txBox="1"/>
          <p:nvPr/>
        </p:nvSpPr>
        <p:spPr>
          <a:xfrm>
            <a:off x="594360" y="12801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7 / 2;  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7 % 2;  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 = 7 / 2.0;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3.5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5, j = i++;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j=5, i=6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k = ++i;    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k=7, i=7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 = 2 + 3 * 4;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 = (2 + 3) * 4;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</a:t>
            </a:r>
            <a:endParaRPr lang="en-US" sz="1400" dirty="0"/>
          </a:p>
        </p:txBody>
      </p:sp>
      <p:sp>
        <p:nvSpPr>
          <p:cNvPr id="7" name="Kártya"/>
          <p:cNvSpPr/>
          <p:nvPr/>
        </p:nvSpPr>
        <p:spPr>
          <a:xfrm>
            <a:off x="5852160" y="1188720"/>
            <a:ext cx="2834640" cy="320040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Kártya szöveg"/>
          <p:cNvSpPr txBox="1"/>
          <p:nvPr/>
        </p:nvSpPr>
        <p:spPr>
          <a:xfrm>
            <a:off x="6035040" y="132588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Tanulság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Egész / egész = egész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i++: előbb érték, aztán növel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++i: előbb növel, aztán érték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* erősebb, mint +</a:t>
            </a:r>
            <a:endParaRPr lang="en-US" sz="1600" dirty="0"/>
          </a:p>
        </p:txBody>
      </p:sp>
      <p:sp>
        <p:nvSpPr>
          <p:cNvPr id="9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Relációs operátorok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&gt;</a:t>
            </a:r>
            <a:endParaRPr lang="en-US" sz="1800" dirty="0"/>
          </a:p>
        </p:txBody>
      </p:sp>
      <p:graphicFrame>
        <p:nvGraphicFramePr>
          <p:cNvPr id="6" name="Tábláza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212080" cy="26883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Operátor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Név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Szint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kisebb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kisebb egyenlő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nagyobb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nagyobb egyenlő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egyenlő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nem egyenlő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Kártya"/>
          <p:cNvSpPr/>
          <p:nvPr/>
        </p:nvSpPr>
        <p:spPr>
          <a:xfrm>
            <a:off x="5943600" y="118872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Kártya szöveg"/>
          <p:cNvSpPr txBox="1"/>
          <p:nvPr/>
        </p:nvSpPr>
        <p:spPr>
          <a:xfrm>
            <a:off x="6126480" y="132588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Fontos tudni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Eredményük mindig bool: true vagy false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Az 5. szint erősebb, mint a 6.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Az aritmetikai műveletek előbb futnak le</a:t>
            </a:r>
            <a:endParaRPr lang="en-US" sz="1600" dirty="0"/>
          </a:p>
        </p:txBody>
      </p:sp>
      <p:sp>
        <p:nvSpPr>
          <p:cNvPr id="8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Relációs példák és buktatók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&gt;</a:t>
            </a:r>
            <a:endParaRPr lang="en-US" sz="1800" dirty="0"/>
          </a:p>
        </p:txBody>
      </p:sp>
      <p:sp>
        <p:nvSpPr>
          <p:cNvPr id="5" name="Kódpanel"/>
          <p:cNvSpPr/>
          <p:nvPr/>
        </p:nvSpPr>
        <p:spPr>
          <a:xfrm>
            <a:off x="457200" y="1188720"/>
            <a:ext cx="512064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Kód"/>
          <p:cNvSpPr txBox="1"/>
          <p:nvPr/>
        </p:nvSpPr>
        <p:spPr>
          <a:xfrm>
            <a:off x="594360" y="12801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 = 5 &lt; 8;   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b = 5 &gt;= 9;  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c = (x == 3);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1400" dirty="0" err="1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összehas</a:t>
            </a:r>
            <a:r>
              <a:rPr lang="hu-HU" sz="1400" dirty="0" err="1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onlítás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3;            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1400" dirty="0" err="1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értékadás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d = 1 &lt; 2 == 3 &gt; 4;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(1</a:t>
            </a:r>
            <a:r>
              <a:rPr lang="hu-HU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hu-HU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2) == (3</a:t>
            </a:r>
            <a:r>
              <a:rPr lang="hu-HU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hu-HU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4) → true == false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eredmény: false</a:t>
            </a:r>
            <a:endParaRPr lang="en-US" sz="1400" dirty="0"/>
          </a:p>
        </p:txBody>
      </p:sp>
      <p:sp>
        <p:nvSpPr>
          <p:cNvPr id="7" name="Kártya"/>
          <p:cNvSpPr/>
          <p:nvPr/>
        </p:nvSpPr>
        <p:spPr>
          <a:xfrm>
            <a:off x="5852160" y="1188720"/>
            <a:ext cx="2834640" cy="320040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Kártya szöveg"/>
          <p:cNvSpPr txBox="1"/>
          <p:nvPr/>
        </p:nvSpPr>
        <p:spPr>
          <a:xfrm>
            <a:off x="6035040" y="132588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Buktatók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= értékadás, == összehasonlítás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&lt; b == c &lt; d: előbb a két &lt;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Lebegőpontos számoknál óvatosan az ==-val</a:t>
            </a:r>
            <a:endParaRPr lang="en-US" sz="1600" dirty="0"/>
          </a:p>
        </p:txBody>
      </p:sp>
      <p:sp>
        <p:nvSpPr>
          <p:cNvPr id="9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Logikai operátorok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800" dirty="0"/>
          </a:p>
        </p:txBody>
      </p:sp>
      <p:graphicFrame>
        <p:nvGraphicFramePr>
          <p:cNvPr id="8" name="Tábláza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153619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Operátor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Név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Szint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logikai tagadás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logikai ÉS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||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logikai VAGY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Kártya"/>
          <p:cNvSpPr/>
          <p:nvPr/>
        </p:nvSpPr>
        <p:spPr>
          <a:xfrm>
            <a:off x="457200" y="2788920"/>
            <a:ext cx="4206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Kártya szöveg"/>
          <p:cNvSpPr txBox="1"/>
          <p:nvPr/>
        </p:nvSpPr>
        <p:spPr>
          <a:xfrm>
            <a:off x="640080" y="29260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Tagadás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!true = false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!false = true</a:t>
            </a:r>
            <a:endParaRPr lang="en-US" sz="1600" dirty="0"/>
          </a:p>
        </p:txBody>
      </p:sp>
      <p:graphicFrame>
        <p:nvGraphicFramePr>
          <p:cNvPr id="15" name="Igazságtá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188720"/>
          <a:ext cx="3749040" cy="22860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&amp;&amp; 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|| 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937760" y="3703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Igazságtábla: mikor igaz az ÉS, illetve a VAGY?</a:t>
            </a:r>
            <a:endParaRPr lang="en-US" sz="1400" dirty="0"/>
          </a:p>
        </p:txBody>
      </p:sp>
      <p:sp>
        <p:nvSpPr>
          <p:cNvPr id="10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Logikai példák és rövidzár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800" dirty="0"/>
          </a:p>
        </p:txBody>
      </p:sp>
      <p:sp>
        <p:nvSpPr>
          <p:cNvPr id="5" name="Kódpanel"/>
          <p:cNvSpPr/>
          <p:nvPr/>
        </p:nvSpPr>
        <p:spPr>
          <a:xfrm>
            <a:off x="457200" y="1188720"/>
            <a:ext cx="512064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Kód"/>
          <p:cNvSpPr txBox="1"/>
          <p:nvPr/>
        </p:nvSpPr>
        <p:spPr>
          <a:xfrm>
            <a:off x="594360" y="12801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 = !(5 &gt; 3);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b = true || false &amp;&amp; false;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&amp;&amp; előbb: true || (false &amp;&amp; false)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eredmény: true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c = x != 0 &amp;&amp; 10 / x &gt; 2;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 == 0: a jobb oldal nem fut le</a:t>
            </a:r>
            <a:endParaRPr lang="en-US" sz="1400" dirty="0"/>
          </a:p>
        </p:txBody>
      </p:sp>
      <p:sp>
        <p:nvSpPr>
          <p:cNvPr id="7" name="Kártya"/>
          <p:cNvSpPr/>
          <p:nvPr/>
        </p:nvSpPr>
        <p:spPr>
          <a:xfrm>
            <a:off x="5852160" y="1188720"/>
            <a:ext cx="2834640" cy="320040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Kártya szöveg"/>
          <p:cNvSpPr txBox="1"/>
          <p:nvPr/>
        </p:nvSpPr>
        <p:spPr>
          <a:xfrm>
            <a:off x="6035040" y="132588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Tanulság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! a legerősebb (2. szint)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&amp;&amp; erősebb, mint ||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Rövidzár: ha a bal oldal eldönti, a jobb ki sem értékelődik</a:t>
            </a:r>
            <a:endParaRPr lang="en-US" sz="1600" dirty="0"/>
          </a:p>
        </p:txBody>
      </p:sp>
      <p:sp>
        <p:nvSpPr>
          <p:cNvPr id="9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Értékadó operátorok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?</a:t>
            </a:r>
            <a:endParaRPr lang="en-US" sz="1800" dirty="0"/>
          </a:p>
        </p:txBody>
      </p:sp>
      <p:graphicFrame>
        <p:nvGraphicFramePr>
          <p:cNvPr id="10" name="Tábláza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212080" cy="26883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Operátor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Jelentés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Egyenértékű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értékadás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= 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hozzáadás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= x + 5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kivonás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= x - 5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szorzás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= x * 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osztás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= x / 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maradékképzés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= x % 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Kártya"/>
          <p:cNvSpPr/>
          <p:nvPr/>
        </p:nvSpPr>
        <p:spPr>
          <a:xfrm>
            <a:off x="5943600" y="118872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Kártya szöveg"/>
          <p:cNvSpPr txBox="1"/>
          <p:nvPr/>
        </p:nvSpPr>
        <p:spPr>
          <a:xfrm>
            <a:off x="6126480" y="132588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10. szint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leggyengébb: mindig utoljára fut 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Jobbról balra: a = b = 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Előbb a jobb oldal értéke számolódik ki</a:t>
            </a:r>
            <a:endParaRPr lang="en-US" sz="1600" dirty="0"/>
          </a:p>
        </p:txBody>
      </p:sp>
      <p:sp>
        <p:nvSpPr>
          <p:cNvPr id="8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Feltételes (ternáris) operátor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?</a:t>
            </a:r>
            <a:endParaRPr lang="en-US" sz="1800" dirty="0"/>
          </a:p>
        </p:txBody>
      </p:sp>
      <p:sp>
        <p:nvSpPr>
          <p:cNvPr id="5" name="Elem: feltétel"/>
          <p:cNvSpPr/>
          <p:nvPr/>
        </p:nvSpPr>
        <p:spPr>
          <a:xfrm>
            <a:off x="457200" y="1143000"/>
            <a:ext cx="18288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feltétel</a:t>
            </a:r>
            <a:endParaRPr lang="en-US" sz="1600" dirty="0"/>
          </a:p>
        </p:txBody>
      </p:sp>
      <p:sp>
        <p:nvSpPr>
          <p:cNvPr id="6" name="Elem: ?"/>
          <p:cNvSpPr/>
          <p:nvPr/>
        </p:nvSpPr>
        <p:spPr>
          <a:xfrm>
            <a:off x="2468880" y="1143000"/>
            <a:ext cx="45720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Elem: igaz ág"/>
          <p:cNvSpPr/>
          <p:nvPr/>
        </p:nvSpPr>
        <p:spPr>
          <a:xfrm>
            <a:off x="3108960" y="1143000"/>
            <a:ext cx="164592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igaz ág</a:t>
            </a:r>
            <a:endParaRPr lang="en-US" sz="1600" dirty="0"/>
          </a:p>
        </p:txBody>
      </p:sp>
      <p:sp>
        <p:nvSpPr>
          <p:cNvPr id="8" name="Elem: :"/>
          <p:cNvSpPr/>
          <p:nvPr/>
        </p:nvSpPr>
        <p:spPr>
          <a:xfrm>
            <a:off x="4937760" y="1143000"/>
            <a:ext cx="45720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9" name="Elem: hamis ág"/>
          <p:cNvSpPr/>
          <p:nvPr/>
        </p:nvSpPr>
        <p:spPr>
          <a:xfrm>
            <a:off x="5577840" y="1143000"/>
            <a:ext cx="164592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hamis ág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9. szint – gyengébb a ||-nál, erősebb az értékadásnál</a:t>
            </a:r>
            <a:endParaRPr lang="en-US" sz="1400" dirty="0"/>
          </a:p>
        </p:txBody>
      </p:sp>
      <p:sp>
        <p:nvSpPr>
          <p:cNvPr id="11" name="Kódpanel"/>
          <p:cNvSpPr/>
          <p:nvPr/>
        </p:nvSpPr>
        <p:spPr>
          <a:xfrm>
            <a:off x="457200" y="2240280"/>
            <a:ext cx="5120640" cy="2194560"/>
          </a:xfrm>
          <a:prstGeom prst="roundRect">
            <a:avLst>
              <a:gd name="adj" fmla="val 41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Kód"/>
          <p:cNvSpPr txBox="1"/>
          <p:nvPr/>
        </p:nvSpPr>
        <p:spPr>
          <a:xfrm>
            <a:off x="594360" y="2331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max = a &gt; b ? a : b;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p &gt;= 50 ? "Átment" : "Bukott";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abs = x &lt; 0 ? -x : x;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 &gt; b ? a : b;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előbb a ?:, utána az =</a:t>
            </a:r>
            <a:endParaRPr lang="en-US" sz="1400" dirty="0"/>
          </a:p>
        </p:txBody>
      </p:sp>
      <p:sp>
        <p:nvSpPr>
          <p:cNvPr id="13" name="Kártya"/>
          <p:cNvSpPr/>
          <p:nvPr/>
        </p:nvSpPr>
        <p:spPr>
          <a:xfrm>
            <a:off x="5852160" y="2240280"/>
            <a:ext cx="28346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4" name="Kártya szöveg"/>
          <p:cNvSpPr txBox="1"/>
          <p:nvPr/>
        </p:nvSpPr>
        <p:spPr>
          <a:xfrm>
            <a:off x="6035040" y="237744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Tanulság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Az if-else rövid formája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feltétel bool típusú</a:t>
            </a:r>
            <a:endParaRPr lang="en-US" sz="1600" dirty="0"/>
          </a:p>
        </p:txBody>
      </p:sp>
      <p:sp>
        <p:nvSpPr>
          <p:cNvPr id="15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Összegzés: műveleti sorrend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1→10</a:t>
            </a:r>
            <a:endParaRPr lang="en-US" sz="1800" dirty="0"/>
          </a:p>
        </p:txBody>
      </p:sp>
      <p:sp>
        <p:nvSpPr>
          <p:cNvPr id="5" name="Szint 1"/>
          <p:cNvSpPr/>
          <p:nvPr/>
        </p:nvSpPr>
        <p:spPr>
          <a:xfrm>
            <a:off x="457200" y="1097280"/>
            <a:ext cx="310896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  x++  x--</a:t>
            </a:r>
            <a:endParaRPr lang="en-US" sz="1100" dirty="0"/>
          </a:p>
        </p:txBody>
      </p:sp>
      <p:sp>
        <p:nvSpPr>
          <p:cNvPr id="7" name="Szint 2"/>
          <p:cNvSpPr/>
          <p:nvPr/>
        </p:nvSpPr>
        <p:spPr>
          <a:xfrm>
            <a:off x="457200" y="1435608"/>
            <a:ext cx="310896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435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+x -x ! ++x --x (típus)</a:t>
            </a:r>
            <a:endParaRPr lang="en-US" sz="1100" dirty="0"/>
          </a:p>
        </p:txBody>
      </p:sp>
      <p:sp>
        <p:nvSpPr>
          <p:cNvPr id="9" name="Szint 3"/>
          <p:cNvSpPr/>
          <p:nvPr/>
        </p:nvSpPr>
        <p:spPr>
          <a:xfrm>
            <a:off x="457200" y="1773936"/>
            <a:ext cx="310896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/  %</a:t>
            </a:r>
            <a:endParaRPr lang="en-US" sz="1100" dirty="0"/>
          </a:p>
        </p:txBody>
      </p:sp>
      <p:sp>
        <p:nvSpPr>
          <p:cNvPr id="11" name="Szint 4"/>
          <p:cNvSpPr/>
          <p:nvPr/>
        </p:nvSpPr>
        <p:spPr>
          <a:xfrm>
            <a:off x="457200" y="2112264"/>
            <a:ext cx="310896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112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</a:t>
            </a:r>
            <a:endParaRPr lang="en-US" sz="1100" dirty="0"/>
          </a:p>
        </p:txBody>
      </p:sp>
      <p:sp>
        <p:nvSpPr>
          <p:cNvPr id="13" name="Szint 5"/>
          <p:cNvSpPr/>
          <p:nvPr/>
        </p:nvSpPr>
        <p:spPr>
          <a:xfrm>
            <a:off x="457200" y="2450592"/>
            <a:ext cx="310896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&lt;=  &gt;  &gt;=</a:t>
            </a:r>
            <a:endParaRPr lang="en-US" sz="1100" dirty="0"/>
          </a:p>
        </p:txBody>
      </p:sp>
      <p:sp>
        <p:nvSpPr>
          <p:cNvPr id="15" name="Szint 6"/>
          <p:cNvSpPr/>
          <p:nvPr/>
        </p:nvSpPr>
        <p:spPr>
          <a:xfrm>
            <a:off x="457200" y="2788920"/>
            <a:ext cx="310896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</a:t>
            </a:r>
            <a:endParaRPr lang="en-US" sz="1100" dirty="0"/>
          </a:p>
        </p:txBody>
      </p:sp>
      <p:sp>
        <p:nvSpPr>
          <p:cNvPr id="17" name="Szint 7"/>
          <p:cNvSpPr/>
          <p:nvPr/>
        </p:nvSpPr>
        <p:spPr>
          <a:xfrm>
            <a:off x="457200" y="3127248"/>
            <a:ext cx="310896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100" dirty="0"/>
          </a:p>
        </p:txBody>
      </p:sp>
      <p:sp>
        <p:nvSpPr>
          <p:cNvPr id="19" name="Szint 8"/>
          <p:cNvSpPr/>
          <p:nvPr/>
        </p:nvSpPr>
        <p:spPr>
          <a:xfrm>
            <a:off x="457200" y="3465576"/>
            <a:ext cx="310896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465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100" dirty="0"/>
          </a:p>
        </p:txBody>
      </p:sp>
      <p:sp>
        <p:nvSpPr>
          <p:cNvPr id="21" name="Szint 9"/>
          <p:cNvSpPr/>
          <p:nvPr/>
        </p:nvSpPr>
        <p:spPr>
          <a:xfrm>
            <a:off x="457200" y="3803904"/>
            <a:ext cx="310896" cy="274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9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803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:</a:t>
            </a:r>
            <a:endParaRPr lang="en-US" sz="1100" dirty="0"/>
          </a:p>
        </p:txBody>
      </p:sp>
      <p:sp>
        <p:nvSpPr>
          <p:cNvPr id="23" name="Szint 10"/>
          <p:cNvSpPr/>
          <p:nvPr/>
        </p:nvSpPr>
        <p:spPr>
          <a:xfrm>
            <a:off x="457200" y="4142232"/>
            <a:ext cx="310896" cy="274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142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+=  -=  *=  /=  %=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1051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4, b = 3, c = 8, done = false</a:t>
            </a:r>
            <a:endParaRPr lang="en-US" sz="1200" dirty="0"/>
          </a:p>
        </p:txBody>
      </p:sp>
      <p:sp>
        <p:nvSpPr>
          <p:cNvPr id="26" name="Példa kifejezés"/>
          <p:cNvSpPr txBox="1"/>
          <p:nvPr/>
        </p:nvSpPr>
        <p:spPr>
          <a:xfrm>
            <a:off x="365760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 + b * 2 &gt; 10 &amp;&amp; !done || c % 2 == 0</a:t>
            </a:r>
            <a:endParaRPr lang="en-US" sz="1400" dirty="0"/>
          </a:p>
        </p:txBody>
      </p:sp>
      <p:sp>
        <p:nvSpPr>
          <p:cNvPr id="27" name="Szint ="/>
          <p:cNvSpPr/>
          <p:nvPr/>
        </p:nvSpPr>
        <p:spPr>
          <a:xfrm>
            <a:off x="3805428" y="1344168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28" name="Szint +"/>
          <p:cNvSpPr/>
          <p:nvPr/>
        </p:nvSpPr>
        <p:spPr>
          <a:xfrm>
            <a:off x="4232148" y="134416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Szint *"/>
          <p:cNvSpPr/>
          <p:nvPr/>
        </p:nvSpPr>
        <p:spPr>
          <a:xfrm>
            <a:off x="4658868" y="134416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0" name="Szint &amp;gt;"/>
          <p:cNvSpPr/>
          <p:nvPr/>
        </p:nvSpPr>
        <p:spPr>
          <a:xfrm>
            <a:off x="5085588" y="1344168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Szint &amp;amp;&amp;amp;"/>
          <p:cNvSpPr/>
          <p:nvPr/>
        </p:nvSpPr>
        <p:spPr>
          <a:xfrm>
            <a:off x="5672328" y="1344168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zint !"/>
          <p:cNvSpPr/>
          <p:nvPr/>
        </p:nvSpPr>
        <p:spPr>
          <a:xfrm>
            <a:off x="5939028" y="134416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Szint ||"/>
          <p:cNvSpPr/>
          <p:nvPr/>
        </p:nvSpPr>
        <p:spPr>
          <a:xfrm>
            <a:off x="6632448" y="1344168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34" name="Szint %"/>
          <p:cNvSpPr/>
          <p:nvPr/>
        </p:nvSpPr>
        <p:spPr>
          <a:xfrm>
            <a:off x="7112508" y="134416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Szint =="/>
          <p:cNvSpPr/>
          <p:nvPr/>
        </p:nvSpPr>
        <p:spPr>
          <a:xfrm>
            <a:off x="7592568" y="1344168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36" name="Lépések 1"/>
          <p:cNvSpPr txBox="1"/>
          <p:nvPr/>
        </p:nvSpPr>
        <p:spPr>
          <a:xfrm>
            <a:off x="365760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2. szint: !done = true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3. szint: b*2 = 6; c%2 = 0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4. szint: a + 6 = 10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5. szint: 10 &gt; 10 = false</a:t>
            </a:r>
            <a:endParaRPr lang="en-US" sz="1200" dirty="0"/>
          </a:p>
        </p:txBody>
      </p:sp>
      <p:sp>
        <p:nvSpPr>
          <p:cNvPr id="37" name="Lépések 2"/>
          <p:cNvSpPr txBox="1"/>
          <p:nvPr/>
        </p:nvSpPr>
        <p:spPr>
          <a:xfrm>
            <a:off x="6217920" y="2103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6. szint: 0 == 0 = true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7. szint: false &amp;&amp; true = false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8. szint: false || true = true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10. szint: r = true</a:t>
            </a:r>
            <a:endParaRPr lang="en-US" sz="1200" dirty="0"/>
          </a:p>
        </p:txBody>
      </p:sp>
      <p:sp>
        <p:nvSpPr>
          <p:cNvPr id="38" name="Kártya"/>
          <p:cNvSpPr/>
          <p:nvPr/>
        </p:nvSpPr>
        <p:spPr>
          <a:xfrm>
            <a:off x="3657600" y="3200400"/>
            <a:ext cx="5029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9" name="Kártya szöveg"/>
          <p:cNvSpPr txBox="1"/>
          <p:nvPr/>
        </p:nvSpPr>
        <p:spPr>
          <a:xfrm>
            <a:off x="3840480" y="3337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Miért számít a sorrend?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 a || előbb futna le, a kifejezés false lenne – pedig helyesen true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Kétség esetén használj zárójelet</a:t>
            </a:r>
            <a:endParaRPr lang="en-US" sz="1600" dirty="0"/>
          </a:p>
        </p:txBody>
      </p:sp>
      <p:sp>
        <p:nvSpPr>
          <p:cNvPr id="40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Köszönjük a figyelmet!</a:t>
            </a:r>
            <a:endParaRPr lang="en-US" sz="4400" dirty="0"/>
          </a:p>
        </p:txBody>
      </p:sp>
      <p:sp>
        <p:nvSpPr>
          <p:cNvPr id="4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ratorok">
  <a:themeElements>
    <a:clrScheme name="Operatorok">
      <a:dk1>
        <a:srgbClr val="1B1F2A"/>
      </a:dk1>
      <a:lt1>
        <a:srgbClr val="FFFFFF"/>
      </a:lt1>
      <a:dk2>
        <a:srgbClr val="2B3245"/>
      </a:dk2>
      <a:lt2>
        <a:srgbClr val="F1F4F9"/>
      </a:lt2>
      <a:accent1>
        <a:srgbClr val="0E8F9C"/>
      </a:accent1>
      <a:accent2>
        <a:srgbClr val="7352B8"/>
      </a:accent2>
      <a:accent3>
        <a:srgbClr val="D9482B"/>
      </a:accent3>
      <a:accent4>
        <a:srgbClr val="B97F00"/>
      </a:accent4>
      <a:accent5>
        <a:srgbClr val="2E8B57"/>
      </a:accent5>
      <a:accent6>
        <a:srgbClr val="6B7488"/>
      </a:accent6>
      <a:hlink>
        <a:srgbClr val="FFFFFF"/>
      </a:hlink>
      <a:folHlink>
        <a:srgbClr val="FFFFFF"/>
      </a:folHlink>
    </a:clrScheme>
    <a:fontScheme name="Operatoro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</Words>
  <Application>Microsoft Office PowerPoint</Application>
  <PresentationFormat>Diavetítés a képernyőre (16:9 oldalarány)</PresentationFormat>
  <Paragraphs>265</Paragraphs>
  <Slides>12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Cambria</vt:lpstr>
      <vt:lpstr>Courier New</vt:lpstr>
      <vt:lpstr>Operatorok</vt:lpstr>
      <vt:lpstr>Operátorok a programozási nyelvekben</vt:lpstr>
      <vt:lpstr>Menü – válassz operátorcsoportot</vt:lpstr>
      <vt:lpstr>Aritmetikai operátorok</vt:lpstr>
      <vt:lpstr>Aritmetikai példák</vt:lpstr>
      <vt:lpstr>Relációs operátorok</vt:lpstr>
      <vt:lpstr>Relációs példák és buktatók</vt:lpstr>
      <vt:lpstr>Logikai operátorok</vt:lpstr>
      <vt:lpstr>Logikai példák és rövidzár</vt:lpstr>
      <vt:lpstr>Értékadó operátorok</vt:lpstr>
      <vt:lpstr>Feltételes (ternáris) operátor</vt:lpstr>
      <vt:lpstr>Összegzés: műveleti sorrend</vt:lpstr>
      <vt:lpstr>Köszönjük a figyelmet!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Operátorok a programozásban</dc:title>
  <dc:subject>PptxGenJS Presentation</dc:subject>
  <dc:creator>PptxGenJS</dc:creator>
  <cp:lastModifiedBy>Ungai Zoltán</cp:lastModifiedBy>
  <cp:revision>3</cp:revision>
  <dcterms:created xsi:type="dcterms:W3CDTF">2026-10-06T22:19:44Z</dcterms:created>
  <dcterms:modified xsi:type="dcterms:W3CDTF">2026-10-08T11:29:15Z</dcterms:modified>
</cp:coreProperties>
</file>